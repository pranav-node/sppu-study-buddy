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62" r:id="rId5"/>
    <p:sldId id="261" r:id="rId6"/>
    <p:sldId id="260" r:id="rId7"/>
    <p:sldId id="259" r:id="rId8"/>
    <p:sldId id="258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goAA8zowI4SFLClokAm3O9JVFK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EAEAE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subTitle" idx="1"/>
          </p:nvPr>
        </p:nvSpPr>
        <p:spPr>
          <a:xfrm>
            <a:off x="351900" y="1432325"/>
            <a:ext cx="8440200" cy="3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b="1">
                <a:solidFill>
                  <a:srgbClr val="C00000"/>
                </a:solidFill>
                <a:latin typeface="Georgia" panose="02040502050405020303" pitchFamily="18" charset="0"/>
              </a:rPr>
              <a:t>Project Title: AI Voice Support Agent Using Speech Recognition and Large Language Models
</a:t>
            </a:r>
            <a:r>
              <a:rPr lang="en-US" sz="1800" b="1">
                <a:solidFill>
                  <a:srgbClr val="002060"/>
                </a:solidFill>
                <a:latin typeface="Georgia" panose="02040502050405020303" pitchFamily="18" charset="0"/>
              </a:rPr>
              <a:t>Group No.: [Your Group Number]
</a:t>
            </a:r>
            <a:r>
              <a:rPr lang="en-US" sz="1800" b="1">
                <a:solidFill>
                  <a:srgbClr val="6600CC"/>
                </a:solidFill>
                <a:latin typeface="Georgia" panose="02040502050405020303" pitchFamily="18" charset="0"/>
              </a:rPr>
              <a:t>Group Members: [Add Member Names with Roll Numbers]
</a:t>
            </a:r>
            <a:r>
              <a:rPr lang="en-US" sz="1800" b="1">
                <a:solidFill>
                  <a:srgbClr val="990000"/>
                </a:solidFill>
                <a:latin typeface="Georgia" panose="02040502050405020303" pitchFamily="18" charset="0"/>
              </a:rPr>
              <a:t>Project Guide
[Guide Name]</a:t>
            </a:r>
            <a:endParaRPr sz="1800" b="1">
              <a:solidFill>
                <a:srgbClr val="990000"/>
              </a:solidFill>
              <a:latin typeface="Georgia" panose="02040502050405020303" pitchFamily="18" charset="0"/>
            </a:endParaRPr>
          </a:p>
        </p:txBody>
      </p:sp>
      <p:grpSp>
        <p:nvGrpSpPr>
          <p:cNvPr id="55" name="Google Shape;55;p1"/>
          <p:cNvGrpSpPr/>
          <p:nvPr/>
        </p:nvGrpSpPr>
        <p:grpSpPr>
          <a:xfrm>
            <a:off x="735724" y="173920"/>
            <a:ext cx="7619935" cy="1139115"/>
            <a:chOff x="1483851" y="112275"/>
            <a:chExt cx="6404700" cy="1114500"/>
          </a:xfrm>
        </p:grpSpPr>
        <p:sp>
          <p:nvSpPr>
            <p:cNvPr id="56" name="Google Shape;56;p1"/>
            <p:cNvSpPr txBox="1"/>
            <p:nvPr/>
          </p:nvSpPr>
          <p:spPr>
            <a:xfrm>
              <a:off x="1483851" y="112275"/>
              <a:ext cx="6404700" cy="11145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SHALAKA FOUNDATION’s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Keystone School of Engineering, Hadapsar Pune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Mechanical Engineering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rgbClr val="274E13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57;p1"/>
            <p:cNvSpPr txBox="1"/>
            <p:nvPr/>
          </p:nvSpPr>
          <p:spPr>
            <a:xfrm>
              <a:off x="1521900" y="700200"/>
              <a:ext cx="6366600" cy="4215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BE Project Topic Finalisation Review – I 2026-27</a:t>
              </a:r>
              <a:endParaRPr sz="1600" dirty="0">
                <a:solidFill>
                  <a:srgbClr val="FFFF00"/>
                </a:solidFill>
                <a:latin typeface="Aparajita"/>
                <a:ea typeface="Aparajita"/>
                <a:cs typeface="Aparajita"/>
                <a:sym typeface="Aparajita"/>
              </a:endParaRPr>
            </a:p>
          </p:txBody>
        </p:sp>
      </p:grpSp>
      <p:pic>
        <p:nvPicPr>
          <p:cNvPr id="58" name="Google Shape;58;p1" descr="D:\KESTONE\keystone logo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9633" y="283150"/>
            <a:ext cx="810362" cy="835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type="ctrTitle"/>
          </p:nvPr>
        </p:nvSpPr>
        <p:spPr>
          <a:xfrm>
            <a:off x="311700" y="1344008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800" b="1">
                <a:solidFill>
                  <a:srgbClr val="C00000"/>
                </a:solidFill>
                <a:latin typeface="Times New Roman" panose="02020603050405020304" pitchFamily="18" charset="0"/>
              </a:rPr>
              <a:t>Contents</a:t>
            </a:r>
            <a:endParaRPr sz="2800" b="1" dirty="0">
              <a:solidFill>
                <a:srgbClr val="C00000"/>
              </a:solidFill>
              <a:latin typeface="Times New Roman" panose="02020603050405020304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744125" y="1764079"/>
            <a:ext cx="7070400" cy="230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89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C0066"/>
                </a:solidFill>
                <a:latin typeface="Times New Roman" panose="02020603050405020304" pitchFamily="18" charset="0"/>
              </a:rPr>
              <a:t>1. Problem Statement
2. Motivation
3. Objectives
4. Literature Survey
5. Project Overview</a:t>
            </a:r>
            <a:endParaRPr sz="2400" b="1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5" name="Google Shape;65;p2"/>
          <p:cNvGrpSpPr/>
          <p:nvPr/>
        </p:nvGrpSpPr>
        <p:grpSpPr>
          <a:xfrm>
            <a:off x="699482" y="99793"/>
            <a:ext cx="7514635" cy="1139130"/>
            <a:chOff x="1483851" y="112275"/>
            <a:chExt cx="6404700" cy="1114500"/>
          </a:xfrm>
        </p:grpSpPr>
        <p:sp>
          <p:nvSpPr>
            <p:cNvPr id="66" name="Google Shape;66;p2"/>
            <p:cNvSpPr txBox="1"/>
            <p:nvPr/>
          </p:nvSpPr>
          <p:spPr>
            <a:xfrm>
              <a:off x="1483851" y="112275"/>
              <a:ext cx="6404700" cy="11145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SHALAKA FOUNDATION’s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Keystone School of Engineering, Hadapsar Pune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Mechanical Engineering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rgbClr val="274E13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67;p2"/>
            <p:cNvSpPr txBox="1"/>
            <p:nvPr/>
          </p:nvSpPr>
          <p:spPr>
            <a:xfrm>
              <a:off x="1521900" y="700200"/>
              <a:ext cx="6366600" cy="4215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BE Project Topic Finalisation Review- I 202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6</a:t>
              </a: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-2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7</a:t>
              </a:r>
              <a:endParaRPr sz="1600" b="0" i="0" u="none" strike="noStrike" cap="none" dirty="0">
                <a:solidFill>
                  <a:srgbClr val="FFFF00"/>
                </a:solidFill>
                <a:latin typeface="Aparajita"/>
                <a:ea typeface="Aparajita"/>
                <a:cs typeface="Aparajita"/>
                <a:sym typeface="Aparajita"/>
              </a:endParaRPr>
            </a:p>
          </p:txBody>
        </p:sp>
      </p:grpSp>
      <p:pic>
        <p:nvPicPr>
          <p:cNvPr id="68" name="Google Shape;68;p2" descr="D:\KESTONE\keystone logo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346" y="175555"/>
            <a:ext cx="810362" cy="835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type="ctrTitle"/>
          </p:nvPr>
        </p:nvSpPr>
        <p:spPr>
          <a:xfrm>
            <a:off x="311700" y="1344008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IN" sz="2800" b="1">
                <a:solidFill>
                  <a:srgbClr val="C00000"/>
                </a:solidFill>
                <a:latin typeface="Times New Roman" panose="02020603050405020304" pitchFamily="18" charset="0"/>
              </a:rPr>
              <a:t>Problem Statement</a:t>
            </a:r>
            <a:endParaRPr sz="2800" b="1" dirty="0">
              <a:solidFill>
                <a:srgbClr val="C00000"/>
              </a:solidFill>
              <a:latin typeface="Times New Roman" panose="02020603050405020304" pitchFamily="18" charset="0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5" name="Google Shape;65;p2"/>
          <p:cNvGrpSpPr/>
          <p:nvPr/>
        </p:nvGrpSpPr>
        <p:grpSpPr>
          <a:xfrm>
            <a:off x="699482" y="99793"/>
            <a:ext cx="7514635" cy="1139130"/>
            <a:chOff x="1483851" y="112275"/>
            <a:chExt cx="6404700" cy="1114500"/>
          </a:xfrm>
        </p:grpSpPr>
        <p:sp>
          <p:nvSpPr>
            <p:cNvPr id="66" name="Google Shape;66;p2"/>
            <p:cNvSpPr txBox="1"/>
            <p:nvPr/>
          </p:nvSpPr>
          <p:spPr>
            <a:xfrm>
              <a:off x="1483851" y="112275"/>
              <a:ext cx="6404700" cy="11145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SHALAKA FOUNDATION’s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Keystone School of Engineering, Hadapsar Pune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Mechanical Engineering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rgbClr val="274E13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67;p2"/>
            <p:cNvSpPr txBox="1"/>
            <p:nvPr/>
          </p:nvSpPr>
          <p:spPr>
            <a:xfrm>
              <a:off x="1521900" y="700200"/>
              <a:ext cx="6366600" cy="4215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BE Project Topic Finalisation Review- I 202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6</a:t>
              </a: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-2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7</a:t>
              </a:r>
              <a:endParaRPr sz="1600" b="0" i="0" u="none" strike="noStrike" cap="none" dirty="0">
                <a:solidFill>
                  <a:srgbClr val="FFFF00"/>
                </a:solidFill>
                <a:latin typeface="Aparajita"/>
                <a:ea typeface="Aparajita"/>
                <a:cs typeface="Aparajita"/>
                <a:sym typeface="Aparajita"/>
              </a:endParaRPr>
            </a:p>
          </p:txBody>
        </p:sp>
      </p:grpSp>
      <p:pic>
        <p:nvPicPr>
          <p:cNvPr id="68" name="Google Shape;68;p2" descr="D:\KESTONE\keystone logo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346" y="175555"/>
            <a:ext cx="810362" cy="8355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A817B6-AE97-9A67-D849-AD80DFAA275F}"/>
              </a:ext>
            </a:extLst>
          </p:cNvPr>
          <p:cNvSpPr/>
          <p:nvPr/>
        </p:nvSpPr>
        <p:spPr>
          <a:xfrm>
            <a:off x="508000" y="1651000"/>
            <a:ext cx="3937000" cy="3111500"/>
          </a:xfrm>
          <a:prstGeom prst="roundRect">
            <a:avLst/>
          </a:prstGeom>
          <a:solidFill>
            <a:srgbClr val="FDF2F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77800" rtlCol="0" anchor="ctr"/>
          <a:lstStyle/>
          <a:p>
            <a:r>
              <a:rPr lang="en-IN" sz="2000" b="1">
                <a:solidFill>
                  <a:srgbClr val="C00000"/>
                </a:solidFill>
                <a:latin typeface="Georgia" panose="02040502050405020303" pitchFamily="18" charset="0"/>
              </a:rPr>
              <a:t>Problem
</a:t>
            </a:r>
            <a:r>
              <a:rPr lang="en-US" b="1">
                <a:solidFill>
                  <a:srgbClr val="282828"/>
                </a:solidFill>
                <a:latin typeface="Times New Roman" panose="02020603050405020304" pitchFamily="18" charset="0"/>
              </a:rPr>
              <a:t>• Traditional customer support systems depend on IVR menus or human agents, resulting in long waiting times, high operational costs, and inconsistent customer experiences.
• Most existing systems fail to understand natural spoken language and cannot provide intelligent real-time assistance.</a:t>
            </a:r>
            <a:endParaRPr lang="en-IN" b="1">
              <a:solidFill>
                <a:srgbClr val="282828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C3A5745-0413-B1CE-F047-0F696FF08E6A}"/>
              </a:ext>
            </a:extLst>
          </p:cNvPr>
          <p:cNvSpPr/>
          <p:nvPr/>
        </p:nvSpPr>
        <p:spPr>
          <a:xfrm>
            <a:off x="4699000" y="1651000"/>
            <a:ext cx="3937000" cy="31115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77800" rtlCol="0" anchor="ctr"/>
          <a:lstStyle/>
          <a:p>
            <a:r>
              <a:rPr lang="en-IN" sz="2000" b="1">
                <a:solidFill>
                  <a:srgbClr val="002060"/>
                </a:solidFill>
                <a:latin typeface="Georgia" panose="02040502050405020303" pitchFamily="18" charset="0"/>
              </a:rPr>
              <a:t>Proposed Solution
</a:t>
            </a:r>
            <a:r>
              <a:rPr lang="en-US" b="1">
                <a:solidFill>
                  <a:srgbClr val="282828"/>
                </a:solidFill>
                <a:latin typeface="Times New Roman" panose="02020603050405020304" pitchFamily="18" charset="0"/>
              </a:rPr>
              <a:t>• Develop an AI-powered Voice Support Agent that listens to customer queries, converts speech into text, understands the user's intent using a Large Language Model (LLM), generates accurate responses, and converts them back into natural speech for seamless voice-based interaction.</a:t>
            </a:r>
            <a:endParaRPr lang="en-IN" b="1">
              <a:solidFill>
                <a:srgbClr val="282828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235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type="ctrTitle"/>
          </p:nvPr>
        </p:nvSpPr>
        <p:spPr>
          <a:xfrm>
            <a:off x="311700" y="1344008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IN" sz="2800" b="1">
                <a:solidFill>
                  <a:srgbClr val="C00000"/>
                </a:solidFill>
                <a:latin typeface="Times New Roman" panose="02020603050405020304" pitchFamily="18" charset="0"/>
              </a:rPr>
              <a:t>Motivation</a:t>
            </a:r>
            <a:endParaRPr sz="2800" b="1" dirty="0">
              <a:solidFill>
                <a:srgbClr val="C00000"/>
              </a:solidFill>
              <a:latin typeface="Times New Roman" panose="02020603050405020304" pitchFamily="18" charset="0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5" name="Google Shape;65;p2"/>
          <p:cNvGrpSpPr/>
          <p:nvPr/>
        </p:nvGrpSpPr>
        <p:grpSpPr>
          <a:xfrm>
            <a:off x="699482" y="99793"/>
            <a:ext cx="7514635" cy="1139130"/>
            <a:chOff x="1483851" y="112275"/>
            <a:chExt cx="6404700" cy="1114500"/>
          </a:xfrm>
        </p:grpSpPr>
        <p:sp>
          <p:nvSpPr>
            <p:cNvPr id="66" name="Google Shape;66;p2"/>
            <p:cNvSpPr txBox="1"/>
            <p:nvPr/>
          </p:nvSpPr>
          <p:spPr>
            <a:xfrm>
              <a:off x="1483851" y="112275"/>
              <a:ext cx="6404700" cy="11145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SHALAKA FOUNDATION’s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Keystone School of Engineering, Hadapsar Pune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Mechanical Engineering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rgbClr val="274E13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67;p2"/>
            <p:cNvSpPr txBox="1"/>
            <p:nvPr/>
          </p:nvSpPr>
          <p:spPr>
            <a:xfrm>
              <a:off x="1521900" y="700200"/>
              <a:ext cx="6366600" cy="4215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BE Project Topic Finalisation Review- I 202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6</a:t>
              </a: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-2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7</a:t>
              </a:r>
              <a:endParaRPr sz="1600" b="0" i="0" u="none" strike="noStrike" cap="none" dirty="0">
                <a:solidFill>
                  <a:srgbClr val="FFFF00"/>
                </a:solidFill>
                <a:latin typeface="Aparajita"/>
                <a:ea typeface="Aparajita"/>
                <a:cs typeface="Aparajita"/>
                <a:sym typeface="Aparajita"/>
              </a:endParaRPr>
            </a:p>
          </p:txBody>
        </p:sp>
      </p:grpSp>
      <p:pic>
        <p:nvPicPr>
          <p:cNvPr id="68" name="Google Shape;68;p2" descr="D:\KESTONE\keystone logo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346" y="175555"/>
            <a:ext cx="810362" cy="8355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87C1F80-55CF-1C17-FBEE-C6CFC05306B6}"/>
              </a:ext>
            </a:extLst>
          </p:cNvPr>
          <p:cNvSpPr/>
          <p:nvPr/>
        </p:nvSpPr>
        <p:spPr>
          <a:xfrm>
            <a:off x="508000" y="1651000"/>
            <a:ext cx="8128000" cy="311150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r>
              <a:rPr lang="en-US" sz="1500">
                <a:solidFill>
                  <a:srgbClr val="282828"/>
                </a:solidFill>
                <a:latin typeface="Times New Roman" panose="02020603050405020304" pitchFamily="18" charset="0"/>
              </a:rPr>
              <a:t>• Essential Business Need:
Customer service has become an essential part of every business, but manual support is expensive and difficult to scale.
• Technological Advancement:
With recent advancements in Artificial Intelligence, Speech Recognition, and Large Language Models, it is now possible to build intelligent voice assistants capable of providing instant, accurate, and human-like responses.
• Core Objective:
Our motivation is to develop a smart AI Voice Support Agent that improves customer satisfaction while reducing operational costs.</a:t>
            </a:r>
            <a:endParaRPr lang="en-IN" sz="1500">
              <a:solidFill>
                <a:srgbClr val="282828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35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type="ctrTitle"/>
          </p:nvPr>
        </p:nvSpPr>
        <p:spPr>
          <a:xfrm>
            <a:off x="311700" y="1344008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IN" sz="2800" b="1">
                <a:solidFill>
                  <a:srgbClr val="C00000"/>
                </a:solidFill>
                <a:latin typeface="Times New Roman" panose="02020603050405020304" pitchFamily="18" charset="0"/>
              </a:rPr>
              <a:t>Objectives</a:t>
            </a:r>
            <a:endParaRPr sz="2800" b="1" dirty="0">
              <a:solidFill>
                <a:srgbClr val="C00000"/>
              </a:solidFill>
              <a:latin typeface="Times New Roman" panose="02020603050405020304" pitchFamily="18" charset="0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5" name="Google Shape;65;p2"/>
          <p:cNvGrpSpPr/>
          <p:nvPr/>
        </p:nvGrpSpPr>
        <p:grpSpPr>
          <a:xfrm>
            <a:off x="699482" y="99793"/>
            <a:ext cx="7514635" cy="1139130"/>
            <a:chOff x="1483851" y="112275"/>
            <a:chExt cx="6404700" cy="1114500"/>
          </a:xfrm>
        </p:grpSpPr>
        <p:sp>
          <p:nvSpPr>
            <p:cNvPr id="66" name="Google Shape;66;p2"/>
            <p:cNvSpPr txBox="1"/>
            <p:nvPr/>
          </p:nvSpPr>
          <p:spPr>
            <a:xfrm>
              <a:off x="1483851" y="112275"/>
              <a:ext cx="6404700" cy="11145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SHALAKA FOUNDATION’s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Keystone School of Engineering, Hadapsar Pune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Mechanical Engineering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rgbClr val="274E13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67;p2"/>
            <p:cNvSpPr txBox="1"/>
            <p:nvPr/>
          </p:nvSpPr>
          <p:spPr>
            <a:xfrm>
              <a:off x="1521900" y="700200"/>
              <a:ext cx="6366600" cy="4215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BE Project Topic Finalisation Review- I 202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6</a:t>
              </a: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-2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7</a:t>
              </a:r>
              <a:endParaRPr sz="1600" b="0" i="0" u="none" strike="noStrike" cap="none" dirty="0">
                <a:solidFill>
                  <a:srgbClr val="FFFF00"/>
                </a:solidFill>
                <a:latin typeface="Aparajita"/>
                <a:ea typeface="Aparajita"/>
                <a:cs typeface="Aparajita"/>
                <a:sym typeface="Aparajita"/>
              </a:endParaRPr>
            </a:p>
          </p:txBody>
        </p:sp>
      </p:grpSp>
      <p:pic>
        <p:nvPicPr>
          <p:cNvPr id="68" name="Google Shape;68;p2" descr="D:\KESTONE\keystone logo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346" y="175555"/>
            <a:ext cx="810362" cy="8355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B2692D5-631E-DC70-C1B5-113576089F21}"/>
              </a:ext>
            </a:extLst>
          </p:cNvPr>
          <p:cNvSpPr/>
          <p:nvPr/>
        </p:nvSpPr>
        <p:spPr>
          <a:xfrm>
            <a:off x="508000" y="1651000"/>
            <a:ext cx="8128000" cy="311150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500">
                <a:solidFill>
                  <a:srgbClr val="282828"/>
                </a:solidFill>
                <a:latin typeface="Times New Roman" panose="02020603050405020304" pitchFamily="18" charset="0"/>
              </a:rPr>
              <a:t>• Develop a real-time voice-based support system.
• Convert user speech into text accurately.
• Generate intelligent responses using an AI language model.
• Convert generated text into natural speech.
• Reduce customer waiting time.
• Improve service availability through 24×7 automated assistance.
• Provide a scalable and cost-effective customer support solution.</a:t>
            </a:r>
            <a:endParaRPr lang="en-IN" sz="1500">
              <a:solidFill>
                <a:srgbClr val="282828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158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type="ctrTitle"/>
          </p:nvPr>
        </p:nvSpPr>
        <p:spPr>
          <a:xfrm>
            <a:off x="311700" y="1344008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IN" sz="2800" b="1">
                <a:solidFill>
                  <a:srgbClr val="C00000"/>
                </a:solidFill>
                <a:latin typeface="Times New Roman" panose="02020603050405020304" pitchFamily="18" charset="0"/>
              </a:rPr>
              <a:t>Literature Survey</a:t>
            </a:r>
            <a:endParaRPr sz="2800" b="1" dirty="0">
              <a:solidFill>
                <a:srgbClr val="C00000"/>
              </a:solidFill>
              <a:latin typeface="Times New Roman" panose="02020603050405020304" pitchFamily="18" charset="0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5" name="Google Shape;65;p2"/>
          <p:cNvGrpSpPr/>
          <p:nvPr/>
        </p:nvGrpSpPr>
        <p:grpSpPr>
          <a:xfrm>
            <a:off x="699482" y="99793"/>
            <a:ext cx="7514635" cy="1139130"/>
            <a:chOff x="1483851" y="112275"/>
            <a:chExt cx="6404700" cy="1114500"/>
          </a:xfrm>
        </p:grpSpPr>
        <p:sp>
          <p:nvSpPr>
            <p:cNvPr id="66" name="Google Shape;66;p2"/>
            <p:cNvSpPr txBox="1"/>
            <p:nvPr/>
          </p:nvSpPr>
          <p:spPr>
            <a:xfrm>
              <a:off x="1483851" y="112275"/>
              <a:ext cx="6404700" cy="11145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SHALAKA FOUNDATION’s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Keystone School of Engineering, Hadapsar Pune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Mechanical Engineering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rgbClr val="274E13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67;p2"/>
            <p:cNvSpPr txBox="1"/>
            <p:nvPr/>
          </p:nvSpPr>
          <p:spPr>
            <a:xfrm>
              <a:off x="1521900" y="700200"/>
              <a:ext cx="6366600" cy="4215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BE Project Topic Finalisation Review- I 202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6</a:t>
              </a: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-2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7</a:t>
              </a:r>
              <a:endParaRPr sz="1600" b="0" i="0" u="none" strike="noStrike" cap="none" dirty="0">
                <a:solidFill>
                  <a:srgbClr val="FFFF00"/>
                </a:solidFill>
                <a:latin typeface="Aparajita"/>
                <a:ea typeface="Aparajita"/>
                <a:cs typeface="Aparajita"/>
                <a:sym typeface="Aparajita"/>
              </a:endParaRPr>
            </a:p>
          </p:txBody>
        </p:sp>
      </p:grpSp>
      <p:pic>
        <p:nvPicPr>
          <p:cNvPr id="68" name="Google Shape;68;p2" descr="D:\KESTONE\keystone logo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346" y="175555"/>
            <a:ext cx="810362" cy="8355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CFFE4F9-0726-DD5D-A4D0-C7630BB40653}"/>
              </a:ext>
            </a:extLst>
          </p:cNvPr>
          <p:cNvSpPr/>
          <p:nvPr/>
        </p:nvSpPr>
        <p:spPr>
          <a:xfrm>
            <a:off x="508000" y="1651000"/>
            <a:ext cx="2590800" cy="1714500"/>
          </a:xfrm>
          <a:prstGeom prst="roundRect">
            <a:avLst/>
          </a:prstGeom>
          <a:solidFill>
            <a:srgbClr val="F5F7F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ctr"/>
          <a:lstStyle/>
          <a:p>
            <a:r>
              <a:rPr lang="en-IN" sz="1300" b="1">
                <a:solidFill>
                  <a:srgbClr val="002060"/>
                </a:solidFill>
                <a:latin typeface="Georgia" panose="02040502050405020303" pitchFamily="18" charset="0"/>
              </a:rPr>
              <a:t>Research Paper 1
</a:t>
            </a:r>
            <a:r>
              <a:rPr lang="en-US" sz="1100" b="1">
                <a:solidFill>
                  <a:srgbClr val="990000"/>
                </a:solidFill>
                <a:latin typeface="Times New Roman" panose="02020603050405020304" pitchFamily="18" charset="0"/>
              </a:rPr>
              <a:t>Whisper: Robust Speech Recognition via Large-Scale Weak Supervision
</a:t>
            </a:r>
            <a:r>
              <a:rPr lang="en-US" sz="1100" b="1">
                <a:solidFill>
                  <a:srgbClr val="282828"/>
                </a:solidFill>
                <a:latin typeface="Times New Roman" panose="02020603050405020304" pitchFamily="18" charset="0"/>
              </a:rPr>
              <a:t>Contribution:
• High-accuracy Speech-to-Text
• Noise-resistant recognition</a:t>
            </a:r>
            <a:endParaRPr lang="en-IN" sz="1100" b="1">
              <a:solidFill>
                <a:srgbClr val="282828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69552C0-5EBD-4041-5900-7E3B0BCD3B0C}"/>
              </a:ext>
            </a:extLst>
          </p:cNvPr>
          <p:cNvSpPr/>
          <p:nvPr/>
        </p:nvSpPr>
        <p:spPr>
          <a:xfrm>
            <a:off x="3276600" y="1651000"/>
            <a:ext cx="2590800" cy="1714500"/>
          </a:xfrm>
          <a:prstGeom prst="roundRect">
            <a:avLst/>
          </a:prstGeom>
          <a:solidFill>
            <a:srgbClr val="F5F7F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ctr"/>
          <a:lstStyle/>
          <a:p>
            <a:r>
              <a:rPr lang="en-IN" sz="1300" b="1">
                <a:solidFill>
                  <a:srgbClr val="002060"/>
                </a:solidFill>
                <a:latin typeface="Georgia" panose="02040502050405020303" pitchFamily="18" charset="0"/>
              </a:rPr>
              <a:t>Research Paper 2
</a:t>
            </a:r>
            <a:r>
              <a:rPr lang="en-US" sz="1100" b="1">
                <a:solidFill>
                  <a:srgbClr val="990000"/>
                </a:solidFill>
                <a:latin typeface="Times New Roman" panose="02020603050405020304" pitchFamily="18" charset="0"/>
              </a:rPr>
              <a:t>GPT-based Conversational AI for Customer Support
</a:t>
            </a:r>
            <a:r>
              <a:rPr lang="en-US" sz="1100" b="1">
                <a:solidFill>
                  <a:srgbClr val="282828"/>
                </a:solidFill>
                <a:latin typeface="Times New Roman" panose="02020603050405020304" pitchFamily="18" charset="0"/>
              </a:rPr>
              <a:t>Contribution:
• Natural language understanding
• Context-aware generation</a:t>
            </a:r>
            <a:endParaRPr lang="en-IN" sz="1100" b="1">
              <a:solidFill>
                <a:srgbClr val="28282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CB0B84-6465-DAAB-C4C5-A2E53F3C66A8}"/>
              </a:ext>
            </a:extLst>
          </p:cNvPr>
          <p:cNvSpPr/>
          <p:nvPr/>
        </p:nvSpPr>
        <p:spPr>
          <a:xfrm>
            <a:off x="6045200" y="1651000"/>
            <a:ext cx="2590800" cy="1714500"/>
          </a:xfrm>
          <a:prstGeom prst="roundRect">
            <a:avLst/>
          </a:prstGeom>
          <a:solidFill>
            <a:srgbClr val="F5F7F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ctr"/>
          <a:lstStyle/>
          <a:p>
            <a:r>
              <a:rPr lang="en-IN" sz="1300" b="1">
                <a:solidFill>
                  <a:srgbClr val="002060"/>
                </a:solidFill>
                <a:latin typeface="Georgia" panose="02040502050405020303" pitchFamily="18" charset="0"/>
              </a:rPr>
              <a:t>Research Paper 3
</a:t>
            </a:r>
            <a:r>
              <a:rPr lang="en-US" sz="1100" b="1">
                <a:solidFill>
                  <a:srgbClr val="990000"/>
                </a:solidFill>
                <a:latin typeface="Times New Roman" panose="02020603050405020304" pitchFamily="18" charset="0"/>
              </a:rPr>
              <a:t>Text-to-Speech Synthesis Using Neural Networks
</a:t>
            </a:r>
            <a:r>
              <a:rPr lang="en-US" sz="1100" b="1">
                <a:solidFill>
                  <a:srgbClr val="282828"/>
                </a:solidFill>
                <a:latin typeface="Times New Roman" panose="02020603050405020304" pitchFamily="18" charset="0"/>
              </a:rPr>
              <a:t>Contribution:
• Human-like voice generation
• Low-latency speech synthesis</a:t>
            </a:r>
            <a:endParaRPr lang="en-IN" sz="1100" b="1">
              <a:solidFill>
                <a:srgbClr val="282828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AA8520-86C3-E7E1-BB43-394E264CC1C9}"/>
              </a:ext>
            </a:extLst>
          </p:cNvPr>
          <p:cNvSpPr/>
          <p:nvPr/>
        </p:nvSpPr>
        <p:spPr>
          <a:xfrm>
            <a:off x="508000" y="3492500"/>
            <a:ext cx="8128000" cy="1270000"/>
          </a:xfrm>
          <a:prstGeom prst="roundRect">
            <a:avLst/>
          </a:prstGeom>
          <a:solidFill>
            <a:srgbClr val="FEF3EB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r>
              <a:rPr lang="en-IN" sz="1500" b="1">
                <a:solidFill>
                  <a:srgbClr val="C00000"/>
                </a:solidFill>
                <a:latin typeface="Georgia" panose="02040502050405020303" pitchFamily="18" charset="0"/>
              </a:rPr>
              <a:t>Research Gap
</a:t>
            </a:r>
            <a:r>
              <a:rPr lang="en-US" b="1">
                <a:solidFill>
                  <a:srgbClr val="282828"/>
                </a:solidFill>
                <a:latin typeface="Times New Roman" panose="02020603050405020304" pitchFamily="18" charset="0"/>
              </a:rPr>
              <a:t>• Existing IVR systems are rule-based.	• Limited contextual understanding.
• Lack of natural conversation.		• High dependency on human agents.</a:t>
            </a:r>
            <a:endParaRPr lang="en-IN" b="1">
              <a:solidFill>
                <a:srgbClr val="282828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947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type="ctrTitle"/>
          </p:nvPr>
        </p:nvSpPr>
        <p:spPr>
          <a:xfrm>
            <a:off x="311700" y="1344008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IN" sz="2800" b="1">
                <a:solidFill>
                  <a:srgbClr val="C00000"/>
                </a:solidFill>
                <a:latin typeface="Times New Roman" panose="02020603050405020304" pitchFamily="18" charset="0"/>
              </a:rPr>
              <a:t>Project Overview</a:t>
            </a:r>
            <a:endParaRPr sz="2800" b="1" dirty="0">
              <a:solidFill>
                <a:srgbClr val="C00000"/>
              </a:solidFill>
              <a:latin typeface="Times New Roman" panose="02020603050405020304" pitchFamily="18" charset="0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5" name="Google Shape;65;p2"/>
          <p:cNvGrpSpPr/>
          <p:nvPr/>
        </p:nvGrpSpPr>
        <p:grpSpPr>
          <a:xfrm>
            <a:off x="699482" y="99793"/>
            <a:ext cx="7514635" cy="1139130"/>
            <a:chOff x="1483851" y="112275"/>
            <a:chExt cx="6404700" cy="1114500"/>
          </a:xfrm>
        </p:grpSpPr>
        <p:sp>
          <p:nvSpPr>
            <p:cNvPr id="66" name="Google Shape;66;p2"/>
            <p:cNvSpPr txBox="1"/>
            <p:nvPr/>
          </p:nvSpPr>
          <p:spPr>
            <a:xfrm>
              <a:off x="1483851" y="112275"/>
              <a:ext cx="6404700" cy="11145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SHALAKA FOUNDATION’s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Keystone School of Engineering, Hadapsar Pune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Mechanical Engineering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rgbClr val="274E13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67;p2"/>
            <p:cNvSpPr txBox="1"/>
            <p:nvPr/>
          </p:nvSpPr>
          <p:spPr>
            <a:xfrm>
              <a:off x="1521900" y="700200"/>
              <a:ext cx="6366600" cy="4215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BE Project Topic Finalisation Review- I 202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6</a:t>
              </a: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-2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7</a:t>
              </a:r>
              <a:endParaRPr sz="1600" b="0" i="0" u="none" strike="noStrike" cap="none" dirty="0">
                <a:solidFill>
                  <a:srgbClr val="FFFF00"/>
                </a:solidFill>
                <a:latin typeface="Aparajita"/>
                <a:ea typeface="Aparajita"/>
                <a:cs typeface="Aparajita"/>
                <a:sym typeface="Aparajita"/>
              </a:endParaRPr>
            </a:p>
          </p:txBody>
        </p:sp>
      </p:grpSp>
      <p:pic>
        <p:nvPicPr>
          <p:cNvPr id="68" name="Google Shape;68;p2" descr="D:\KESTONE\keystone logo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346" y="175555"/>
            <a:ext cx="810362" cy="8355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8A2702-4279-3F7F-C61D-7EAAEBCEB578}"/>
              </a:ext>
            </a:extLst>
          </p:cNvPr>
          <p:cNvSpPr/>
          <p:nvPr/>
        </p:nvSpPr>
        <p:spPr>
          <a:xfrm>
            <a:off x="508000" y="1651000"/>
            <a:ext cx="3556000" cy="3111500"/>
          </a:xfrm>
          <a:prstGeom prst="roundRect">
            <a:avLst/>
          </a:prstGeom>
          <a:solidFill>
            <a:srgbClr val="F5F7FC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A40272-4C2D-FD3C-32ED-D6E67B153FC4}"/>
              </a:ext>
            </a:extLst>
          </p:cNvPr>
          <p:cNvSpPr txBox="1"/>
          <p:nvPr/>
        </p:nvSpPr>
        <p:spPr>
          <a:xfrm>
            <a:off x="508000" y="1689100"/>
            <a:ext cx="3556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>
                <a:solidFill>
                  <a:srgbClr val="002060"/>
                </a:solidFill>
                <a:latin typeface="Georgia" panose="02040502050405020303" pitchFamily="18" charset="0"/>
              </a:rPr>
              <a:t>System Workflow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EF75B0B-66D0-1000-C5DA-43BFF8A57789}"/>
              </a:ext>
            </a:extLst>
          </p:cNvPr>
          <p:cNvSpPr/>
          <p:nvPr/>
        </p:nvSpPr>
        <p:spPr>
          <a:xfrm>
            <a:off x="825500" y="2032000"/>
            <a:ext cx="2921000" cy="215900"/>
          </a:xfrm>
          <a:prstGeom prst="roundRect">
            <a:avLst/>
          </a:prstGeom>
          <a:solidFill>
            <a:srgbClr val="00206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12700" rIns="12700" bIns="1270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Times New Roman" panose="02020603050405020304" pitchFamily="18" charset="0"/>
              </a:rPr>
              <a:t>User Speaks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C4FB95B5-1E63-4D26-627F-12C20CC4C108}"/>
              </a:ext>
            </a:extLst>
          </p:cNvPr>
          <p:cNvSpPr/>
          <p:nvPr/>
        </p:nvSpPr>
        <p:spPr>
          <a:xfrm rot="10800000">
            <a:off x="2235200" y="2260600"/>
            <a:ext cx="101600" cy="88900"/>
          </a:xfrm>
          <a:prstGeom prst="upArrow">
            <a:avLst/>
          </a:prstGeom>
          <a:solidFill>
            <a:srgbClr val="00206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6A89A2-36F4-D365-D306-9417101CE3EB}"/>
              </a:ext>
            </a:extLst>
          </p:cNvPr>
          <p:cNvSpPr/>
          <p:nvPr/>
        </p:nvSpPr>
        <p:spPr>
          <a:xfrm>
            <a:off x="825500" y="2362200"/>
            <a:ext cx="2921000" cy="215900"/>
          </a:xfrm>
          <a:prstGeom prst="roundRect">
            <a:avLst/>
          </a:prstGeom>
          <a:solidFill>
            <a:srgbClr val="CC006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12700" rIns="12700" bIns="1270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Times New Roman" panose="02020603050405020304" pitchFamily="18" charset="0"/>
              </a:rPr>
              <a:t>Speech-to-Text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B71AD086-2339-9575-7BC8-E6463CF164F0}"/>
              </a:ext>
            </a:extLst>
          </p:cNvPr>
          <p:cNvSpPr/>
          <p:nvPr/>
        </p:nvSpPr>
        <p:spPr>
          <a:xfrm rot="10800000">
            <a:off x="2235200" y="2590800"/>
            <a:ext cx="101600" cy="88900"/>
          </a:xfrm>
          <a:prstGeom prst="upArrow">
            <a:avLst/>
          </a:prstGeom>
          <a:solidFill>
            <a:srgbClr val="00206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24A47E-7775-F613-6650-905CB8CF324B}"/>
              </a:ext>
            </a:extLst>
          </p:cNvPr>
          <p:cNvSpPr/>
          <p:nvPr/>
        </p:nvSpPr>
        <p:spPr>
          <a:xfrm>
            <a:off x="825500" y="2692400"/>
            <a:ext cx="2921000" cy="215900"/>
          </a:xfrm>
          <a:prstGeom prst="roundRect">
            <a:avLst/>
          </a:prstGeom>
          <a:solidFill>
            <a:srgbClr val="E6EBF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12700" rIns="12700" bIns="12700" rtlCol="0" anchor="ctr"/>
          <a:lstStyle/>
          <a:p>
            <a:pPr algn="ctr"/>
            <a:r>
              <a:rPr lang="en-IN" sz="1000" b="1">
                <a:solidFill>
                  <a:srgbClr val="002060"/>
                </a:solidFill>
                <a:latin typeface="Times New Roman" panose="02020603050405020304" pitchFamily="18" charset="0"/>
              </a:rPr>
              <a:t>Speech Processing</a:t>
            </a: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EF4A85F2-B450-A590-45E8-689BE6B69693}"/>
              </a:ext>
            </a:extLst>
          </p:cNvPr>
          <p:cNvSpPr/>
          <p:nvPr/>
        </p:nvSpPr>
        <p:spPr>
          <a:xfrm rot="10800000">
            <a:off x="2235200" y="2921000"/>
            <a:ext cx="101600" cy="88900"/>
          </a:xfrm>
          <a:prstGeom prst="upArrow">
            <a:avLst/>
          </a:prstGeom>
          <a:solidFill>
            <a:srgbClr val="00206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FEA0DF-C222-DABA-D034-C20C0E695269}"/>
              </a:ext>
            </a:extLst>
          </p:cNvPr>
          <p:cNvSpPr/>
          <p:nvPr/>
        </p:nvSpPr>
        <p:spPr>
          <a:xfrm>
            <a:off x="825500" y="3022600"/>
            <a:ext cx="2921000" cy="215900"/>
          </a:xfrm>
          <a:prstGeom prst="roundRect">
            <a:avLst/>
          </a:prstGeom>
          <a:solidFill>
            <a:srgbClr val="E6EBF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12700" rIns="12700" bIns="12700" rtlCol="0" anchor="ctr"/>
          <a:lstStyle/>
          <a:p>
            <a:pPr algn="ctr"/>
            <a:r>
              <a:rPr lang="en-IN" sz="1000" b="1">
                <a:solidFill>
                  <a:srgbClr val="002060"/>
                </a:solidFill>
                <a:latin typeface="Times New Roman" panose="02020603050405020304" pitchFamily="18" charset="0"/>
              </a:rPr>
              <a:t>Intent Detection</a:t>
            </a:r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9A8816D5-0FE5-A438-3973-D90BAB3EBADE}"/>
              </a:ext>
            </a:extLst>
          </p:cNvPr>
          <p:cNvSpPr/>
          <p:nvPr/>
        </p:nvSpPr>
        <p:spPr>
          <a:xfrm rot="10800000">
            <a:off x="2235200" y="3251200"/>
            <a:ext cx="101600" cy="88900"/>
          </a:xfrm>
          <a:prstGeom prst="upArrow">
            <a:avLst/>
          </a:prstGeom>
          <a:solidFill>
            <a:srgbClr val="00206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65F0560-74DC-561E-0988-BE35E1192C7F}"/>
              </a:ext>
            </a:extLst>
          </p:cNvPr>
          <p:cNvSpPr/>
          <p:nvPr/>
        </p:nvSpPr>
        <p:spPr>
          <a:xfrm>
            <a:off x="825500" y="3352800"/>
            <a:ext cx="2921000" cy="215900"/>
          </a:xfrm>
          <a:prstGeom prst="round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12700" rIns="12700" bIns="1270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Times New Roman" panose="02020603050405020304" pitchFamily="18" charset="0"/>
              </a:rPr>
              <a:t>Large Language Model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DED57236-5B89-388B-CD5D-EBD6C7803C15}"/>
              </a:ext>
            </a:extLst>
          </p:cNvPr>
          <p:cNvSpPr/>
          <p:nvPr/>
        </p:nvSpPr>
        <p:spPr>
          <a:xfrm rot="10800000">
            <a:off x="2235200" y="3581400"/>
            <a:ext cx="101600" cy="88900"/>
          </a:xfrm>
          <a:prstGeom prst="upArrow">
            <a:avLst/>
          </a:prstGeom>
          <a:solidFill>
            <a:srgbClr val="00206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91B1EA-C6DE-234F-6597-C2D961A9E4C8}"/>
              </a:ext>
            </a:extLst>
          </p:cNvPr>
          <p:cNvSpPr/>
          <p:nvPr/>
        </p:nvSpPr>
        <p:spPr>
          <a:xfrm>
            <a:off x="825500" y="3683000"/>
            <a:ext cx="2921000" cy="215900"/>
          </a:xfrm>
          <a:prstGeom prst="round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12700" rIns="12700" bIns="1270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Times New Roman" panose="02020603050405020304" pitchFamily="18" charset="0"/>
              </a:rPr>
              <a:t>Response Generation</a:t>
            </a:r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9BB4B243-65F9-E881-54E9-F8AC823DE792}"/>
              </a:ext>
            </a:extLst>
          </p:cNvPr>
          <p:cNvSpPr/>
          <p:nvPr/>
        </p:nvSpPr>
        <p:spPr>
          <a:xfrm rot="10800000">
            <a:off x="2235200" y="3911600"/>
            <a:ext cx="101600" cy="88900"/>
          </a:xfrm>
          <a:prstGeom prst="upArrow">
            <a:avLst/>
          </a:prstGeom>
          <a:solidFill>
            <a:srgbClr val="00206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27FFE96-7753-DEC6-F43D-1B2EBA6106FA}"/>
              </a:ext>
            </a:extLst>
          </p:cNvPr>
          <p:cNvSpPr/>
          <p:nvPr/>
        </p:nvSpPr>
        <p:spPr>
          <a:xfrm>
            <a:off x="825500" y="4013200"/>
            <a:ext cx="2921000" cy="215900"/>
          </a:xfrm>
          <a:prstGeom prst="roundRect">
            <a:avLst/>
          </a:prstGeom>
          <a:solidFill>
            <a:srgbClr val="CC006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12700" rIns="12700" bIns="1270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Times New Roman" panose="02020603050405020304" pitchFamily="18" charset="0"/>
              </a:rPr>
              <a:t>Text-to-Speech</a:t>
            </a:r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6D2F6449-1764-18E0-81B4-0A113419DC8E}"/>
              </a:ext>
            </a:extLst>
          </p:cNvPr>
          <p:cNvSpPr/>
          <p:nvPr/>
        </p:nvSpPr>
        <p:spPr>
          <a:xfrm rot="10800000">
            <a:off x="2235200" y="4241800"/>
            <a:ext cx="101600" cy="88900"/>
          </a:xfrm>
          <a:prstGeom prst="upArrow">
            <a:avLst/>
          </a:prstGeom>
          <a:solidFill>
            <a:srgbClr val="00206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8DDDDD2-0526-C1D5-0A96-6B0C6508E5A6}"/>
              </a:ext>
            </a:extLst>
          </p:cNvPr>
          <p:cNvSpPr/>
          <p:nvPr/>
        </p:nvSpPr>
        <p:spPr>
          <a:xfrm>
            <a:off x="825500" y="4343400"/>
            <a:ext cx="2921000" cy="215900"/>
          </a:xfrm>
          <a:prstGeom prst="roundRect">
            <a:avLst/>
          </a:prstGeom>
          <a:solidFill>
            <a:srgbClr val="00206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12700" rIns="12700" bIns="1270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Times New Roman" panose="02020603050405020304" pitchFamily="18" charset="0"/>
              </a:rPr>
              <a:t>Voice Response to User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64D0433-0743-5621-7E03-B42B1B60F023}"/>
              </a:ext>
            </a:extLst>
          </p:cNvPr>
          <p:cNvSpPr/>
          <p:nvPr/>
        </p:nvSpPr>
        <p:spPr>
          <a:xfrm>
            <a:off x="4318000" y="1651000"/>
            <a:ext cx="4318000" cy="1778000"/>
          </a:xfrm>
          <a:prstGeom prst="roundRect">
            <a:avLst/>
          </a:prstGeom>
          <a:solidFill>
            <a:srgbClr val="F8F9FA"/>
          </a:solidFill>
          <a:ln>
            <a:solidFill>
              <a:srgbClr val="D2D7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r>
              <a:rPr lang="en-IN" sz="1500" b="1">
                <a:solidFill>
                  <a:srgbClr val="002060"/>
                </a:solidFill>
                <a:latin typeface="Georgia" panose="02040502050405020303" pitchFamily="18" charset="0"/>
              </a:rPr>
              <a:t>Technology Stack
</a:t>
            </a:r>
            <a:r>
              <a:rPr lang="en-IN" sz="1300" b="1">
                <a:solidFill>
                  <a:srgbClr val="282828"/>
                </a:solidFill>
                <a:latin typeface="Times New Roman" panose="02020603050405020304" pitchFamily="18" charset="0"/>
              </a:rPr>
              <a:t>• Programming &amp; Frameworks: Python, FastAPI, React (Optional)
• AI &amp; Voice APIs: OpenAI Whisper (STT), GPT-4 / Llama (LLM), ElevenLabs (TTS)
• Database: MongoDB / PostgreSQL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40D90FB-BFB3-8E5A-666C-01306209275C}"/>
              </a:ext>
            </a:extLst>
          </p:cNvPr>
          <p:cNvSpPr/>
          <p:nvPr/>
        </p:nvSpPr>
        <p:spPr>
          <a:xfrm>
            <a:off x="4318000" y="3556000"/>
            <a:ext cx="4318000" cy="1206500"/>
          </a:xfrm>
          <a:prstGeom prst="roundRect">
            <a:avLst/>
          </a:prstGeom>
          <a:solidFill>
            <a:srgbClr val="F0F8F0"/>
          </a:solidFill>
          <a:ln w="19050">
            <a:solidFill>
              <a:srgbClr val="288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27000" rtlCol="0" anchor="ctr"/>
          <a:lstStyle/>
          <a:p>
            <a:r>
              <a:rPr lang="en-IN" sz="1500" b="1">
                <a:solidFill>
                  <a:srgbClr val="1E6E2D"/>
                </a:solidFill>
                <a:latin typeface="Georgia" panose="02040502050405020303" pitchFamily="18" charset="0"/>
              </a:rPr>
              <a:t>Expected Outcome
</a:t>
            </a:r>
            <a:r>
              <a:rPr lang="en-US" sz="1200" b="1">
                <a:solidFill>
                  <a:srgbClr val="282828"/>
                </a:solidFill>
                <a:latin typeface="Times New Roman" panose="02020603050405020304" pitchFamily="18" charset="0"/>
              </a:rPr>
              <a:t>The proposed system will provide intelligent, real-time, voice-based customer support with faster response time, higher accuracy, reduced operational cost, and improved user experience.</a:t>
            </a:r>
            <a:endParaRPr lang="en-IN" sz="1200" b="1">
              <a:solidFill>
                <a:srgbClr val="282828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399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type="ctrTitle"/>
          </p:nvPr>
        </p:nvSpPr>
        <p:spPr>
          <a:xfrm>
            <a:off x="311700" y="1344008"/>
            <a:ext cx="85206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800" b="1" dirty="0">
              <a:solidFill>
                <a:srgbClr val="C00000"/>
              </a:solidFill>
              <a:latin typeface="Times New Roman" panose="02020603050405020304" pitchFamily="18" charset="0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5" name="Google Shape;65;p2"/>
          <p:cNvGrpSpPr/>
          <p:nvPr/>
        </p:nvGrpSpPr>
        <p:grpSpPr>
          <a:xfrm>
            <a:off x="699482" y="99793"/>
            <a:ext cx="7514635" cy="1139130"/>
            <a:chOff x="1483851" y="112275"/>
            <a:chExt cx="6404700" cy="1114500"/>
          </a:xfrm>
        </p:grpSpPr>
        <p:sp>
          <p:nvSpPr>
            <p:cNvPr id="66" name="Google Shape;66;p2"/>
            <p:cNvSpPr txBox="1"/>
            <p:nvPr/>
          </p:nvSpPr>
          <p:spPr>
            <a:xfrm>
              <a:off x="1483851" y="112275"/>
              <a:ext cx="6404700" cy="11145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SHALAKA FOUNDATION’s 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Keystone School of Engineering, Hadapsar Pune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Mechanical Engineering</a:t>
              </a:r>
              <a:endPara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rgbClr val="274E13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67;p2"/>
            <p:cNvSpPr txBox="1"/>
            <p:nvPr/>
          </p:nvSpPr>
          <p:spPr>
            <a:xfrm>
              <a:off x="1521900" y="700200"/>
              <a:ext cx="6366600" cy="4215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BE Project Topic Finalisation Review- I 202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6</a:t>
              </a:r>
              <a:r>
                <a:rPr lang="en" sz="1600" b="0" i="0" u="none" strike="noStrike" cap="none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-2</a:t>
              </a:r>
              <a:r>
                <a:rPr lang="en" sz="1600" dirty="0">
                  <a:solidFill>
                    <a:srgbClr val="FFFF00"/>
                  </a:solidFill>
                  <a:latin typeface="Aparajita"/>
                  <a:ea typeface="Aparajita"/>
                  <a:cs typeface="Aparajita"/>
                  <a:sym typeface="Aparajita"/>
                </a:rPr>
                <a:t>7</a:t>
              </a:r>
              <a:endParaRPr sz="1600" b="0" i="0" u="none" strike="noStrike" cap="none" dirty="0">
                <a:solidFill>
                  <a:srgbClr val="FFFF00"/>
                </a:solidFill>
                <a:latin typeface="Aparajita"/>
                <a:ea typeface="Aparajita"/>
                <a:cs typeface="Aparajita"/>
                <a:sym typeface="Aparajita"/>
              </a:endParaRPr>
            </a:p>
          </p:txBody>
        </p:sp>
      </p:grpSp>
      <p:pic>
        <p:nvPicPr>
          <p:cNvPr id="68" name="Google Shape;68;p2" descr="D:\KESTONE\keystone logo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346" y="175555"/>
            <a:ext cx="810362" cy="8355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997285D-3B21-9B99-6CCF-92A799EAE2CF}"/>
              </a:ext>
            </a:extLst>
          </p:cNvPr>
          <p:cNvSpPr/>
          <p:nvPr/>
        </p:nvSpPr>
        <p:spPr>
          <a:xfrm>
            <a:off x="1397000" y="1778000"/>
            <a:ext cx="6350000" cy="254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0" tIns="254000" rIns="254000" bIns="254000" rtlCol="0" anchor="ctr"/>
          <a:lstStyle/>
          <a:p>
            <a:pPr algn="ctr"/>
            <a:r>
              <a:rPr lang="en-IN" sz="3600" b="1">
                <a:solidFill>
                  <a:srgbClr val="C00000"/>
                </a:solidFill>
                <a:latin typeface="Times New Roman" panose="02020603050405020304" pitchFamily="18" charset="0"/>
              </a:rPr>
              <a:t>Thank You
</a:t>
            </a:r>
            <a:r>
              <a:rPr lang="en-IN" sz="2400" b="1">
                <a:solidFill>
                  <a:srgbClr val="002060"/>
                </a:solidFill>
                <a:latin typeface="Georgia" panose="02040502050405020303" pitchFamily="18" charset="0"/>
              </a:rP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350713483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</Words>
  <Application>Microsoft Office PowerPoint</Application>
  <PresentationFormat>On-screen Show (16:9)</PresentationFormat>
  <Paragraphs>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Aparajita</vt:lpstr>
      <vt:lpstr>Arial</vt:lpstr>
      <vt:lpstr>Georgia</vt:lpstr>
      <vt:lpstr>Times New Roman</vt:lpstr>
      <vt:lpstr>Simple Light</vt:lpstr>
      <vt:lpstr>PowerPoint Presentation</vt:lpstr>
      <vt:lpstr>Contents</vt:lpstr>
      <vt:lpstr>Problem Statement</vt:lpstr>
      <vt:lpstr>Motivation</vt:lpstr>
      <vt:lpstr>Objectives</vt:lpstr>
      <vt:lpstr>Literature Survey</vt:lpstr>
      <vt:lpstr>Project Overview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Pranav Pilane</cp:lastModifiedBy>
  <cp:revision>6</cp:revision>
  <dcterms:modified xsi:type="dcterms:W3CDTF">2026-08-03T17:16:39Z</dcterms:modified>
</cp:coreProperties>
</file>